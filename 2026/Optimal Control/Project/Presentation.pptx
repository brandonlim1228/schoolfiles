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86" r:id="rId4"/>
    <p:sldId id="287" r:id="rId5"/>
    <p:sldId id="264" r:id="rId6"/>
    <p:sldId id="259" r:id="rId7"/>
    <p:sldId id="263" r:id="rId8"/>
    <p:sldId id="267" r:id="rId9"/>
    <p:sldId id="265" r:id="rId10"/>
    <p:sldId id="266" r:id="rId11"/>
    <p:sldId id="268" r:id="rId12"/>
    <p:sldId id="269" r:id="rId13"/>
    <p:sldId id="278" r:id="rId14"/>
    <p:sldId id="261" r:id="rId15"/>
    <p:sldId id="285" r:id="rId16"/>
    <p:sldId id="289" r:id="rId17"/>
    <p:sldId id="272" r:id="rId18"/>
    <p:sldId id="279" r:id="rId19"/>
    <p:sldId id="280" r:id="rId20"/>
    <p:sldId id="281" r:id="rId21"/>
    <p:sldId id="288" r:id="rId22"/>
    <p:sldId id="283" r:id="rId23"/>
    <p:sldId id="276" r:id="rId24"/>
    <p:sldId id="277" r:id="rId25"/>
    <p:sldId id="262" r:id="rId26"/>
    <p:sldId id="284" r:id="rId27"/>
    <p:sldId id="29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B4BCE-359D-48E8-AB07-6D5D2AD3B2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2018A-83A7-4AED-9D92-D6F4868CD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646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D9A9B-51FB-B9D9-22BB-94202F9C3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9A141F-E5C6-AF5F-C7E3-FC17880036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E823E-66D2-C13F-DD6C-8088AFDEB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11F-6542-4E68-BC59-CCA77676412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97890-6990-4808-1C3F-5B939D1CA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02980-672D-72F0-FD42-0DEDD049D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B1A0-DE1B-4959-922F-B709D853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157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01693-71C9-6F3F-9A1D-A7F0FF334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A055D-C76F-5D3E-3B49-B622731E1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37956-7B31-8ACC-6E02-1656EB415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11F-6542-4E68-BC59-CCA77676412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D4BE9-773C-9815-4763-252BB95E1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390CF-6DE0-8106-49AD-0B9C9FE9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B1A0-DE1B-4959-922F-B709D853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279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387A8-8A32-626F-6B22-92BCDAB69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D5E07-9C66-9044-2340-73E70B3AC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A2925-4C57-3B4F-A737-35C953B02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11F-6542-4E68-BC59-CCA77676412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2BD13-50D2-759F-0258-8E0B2833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E5246-1294-FB88-57E4-EB7BFD6C1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B1A0-DE1B-4959-922F-B709D853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178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522DF-F70D-3488-F088-70EB07CE5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47995-78EE-57A0-603F-8358E773F8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B6E8A-B8AD-237A-678B-BE2B3A099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4101D-4DD9-52F8-3CFA-F851554B4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11F-6542-4E68-BC59-CCA77676412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8E9B6B-F241-29B5-B974-369090646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DA10B-F853-1F40-913B-E98AC62B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B1A0-DE1B-4959-922F-B709D853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215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57065-F6CB-E06B-1651-3A71D85C9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252F1-F6FC-2761-87AC-E7563DB55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5F7E5D-425F-DF86-0C0F-EA241CF7B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D0D931-507B-B857-08BE-2CD8CBFC83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F1F2E-6D39-F765-C6E6-7B651DDB32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FAD526-A007-5FF8-AF4D-A8823AC1E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11F-6542-4E68-BC59-CCA77676412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76DCFB-49C1-DC3B-B78D-AFC787106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8ABDF8-3B7E-E196-33B2-641F5A27C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B1A0-DE1B-4959-922F-B709D853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846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35955-1787-E29C-0B33-7EAAD8D2C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EA2685-F6E3-495F-8023-536C6200B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11F-6542-4E68-BC59-CCA77676412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68DF1C-11E9-3251-57D7-EE353F280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36742D-E092-312E-99CE-3FEE953AC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B1A0-DE1B-4959-922F-B709D853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463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76F6BA-773D-D99A-898C-5674610D3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11F-6542-4E68-BC59-CCA77676412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D762F5-0A2B-0900-6D34-E284DF5A6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9584B-5F71-A619-490D-BA06F5825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B1A0-DE1B-4959-922F-B709D853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949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DEAF7-344E-C619-1CD4-41367654C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5D3A6-D662-13AA-D991-C5BCFB8B7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BF536F-3ECC-64EC-A4B5-0A7039673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40697-B262-6812-DC7F-09AA9315D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11F-6542-4E68-BC59-CCA77676412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0B885-9282-05EB-30B2-B1C98C9B7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F62C2-EA84-51E0-2A95-BF2EEB765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B1A0-DE1B-4959-922F-B709D853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72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C5CC1-7649-C8AC-4ACA-E63C8F7CE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84662C-1392-A83D-6CE7-52A4C1949D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B33CAE-FD15-2D9E-1961-B60285C2F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1FBD7-88A3-3EA5-2272-B5A7F5469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11F-6542-4E68-BC59-CCA77676412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46CD2D-3CB6-940C-8D6B-DEC579ADA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8185E-2D4F-67CF-8244-FD4C7EFF4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B1A0-DE1B-4959-922F-B709D853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04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40C64-B94B-6119-0BDD-D4C41A6D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3C77AA-CA63-645D-4F41-622E08C0A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B56D7-DEC7-5E79-A482-7FECD165E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11F-6542-4E68-BC59-CCA77676412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2344B-F4B6-4CC3-AE2B-1FDD34338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581FE-3B9E-80A6-1E5E-C11D4E19D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B1A0-DE1B-4959-922F-B709D853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49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E01960-89B3-3E8D-A093-4DFC1EB1BF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12442-7432-925A-4D6D-B3A80D0C8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96673-E707-060C-A242-2421B8AE6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11F-6542-4E68-BC59-CCA77676412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B3F8A-3894-2FD3-D9F4-5A7A60B1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11F9B-ED0E-6743-67B7-1E410EFAF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B1A0-DE1B-4959-922F-B709D853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468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307598-1529-E5D4-6E61-E43C408AB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34EE5-FDC3-EF32-4A84-3AF3D6746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B641A-4BAD-D191-8626-738468895D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EBE11F-6542-4E68-BC59-CCA77676412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092C1-4B2D-6898-29E7-894BD13570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82344-80E5-4EF3-F998-F8AFB4DEBB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13B1A0-DE1B-4959-922F-B709D853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81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image" Target="../media/image14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044B74-2D25-DD5F-DA07-5C7135280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3105572" cy="456713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latin typeface="Adobe Arabic" panose="02040503050201020203" pitchFamily="18" charset="-78"/>
                <a:cs typeface="Adobe Arabic" panose="02040503050201020203" pitchFamily="18" charset="-78"/>
              </a:rPr>
              <a:t>F-16 Optimal Attitude Control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D5F62-ACDE-81DB-92B5-8EAFFE45F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Optimal Control 7210</a:t>
            </a:r>
          </a:p>
          <a:p>
            <a:pPr algn="l"/>
            <a:r>
              <a:rPr lang="en-US" sz="2200" dirty="0">
                <a:latin typeface="Adobe Arabic" panose="02040503050201020203" pitchFamily="18" charset="-78"/>
                <a:cs typeface="Adobe Arabic" panose="02040503050201020203" pitchFamily="18" charset="-78"/>
              </a:rPr>
              <a:t>Brandon Lim</a:t>
            </a:r>
          </a:p>
        </p:txBody>
      </p:sp>
      <p:pic>
        <p:nvPicPr>
          <p:cNvPr id="1028" name="Picture 4" descr="Orthographically projected diagram of the F-16.">
            <a:extLst>
              <a:ext uri="{FF2B5EF4-FFF2-40B4-BE49-F238E27FC236}">
                <a16:creationId xmlns:a16="http://schemas.microsoft.com/office/drawing/2014/main" id="{DB815476-2656-567E-4FAB-3BCB849D8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478" y="1045877"/>
            <a:ext cx="6840135" cy="4567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7996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2B068-8E66-A6FA-7336-CAB07BA78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F59A2-2FB2-636B-2282-28D47FA45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Introduction</a:t>
            </a:r>
          </a:p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Background</a:t>
            </a:r>
          </a:p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Problem Formulation</a:t>
            </a:r>
          </a:p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Technical Approach</a:t>
            </a:r>
          </a:p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Simulation Results</a:t>
            </a:r>
          </a:p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Future Works</a:t>
            </a:r>
          </a:p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Q&amp;A</a:t>
            </a:r>
          </a:p>
          <a:p>
            <a:endParaRPr 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35339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8A68D-45C3-45D8-8979-6E5C0D710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439267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6A073-3D86-37AC-E521-525463770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5422F-C030-165F-4064-007B6F17C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1985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While 5</a:t>
            </a:r>
            <a:r>
              <a:rPr lang="en-US" baseline="30000" dirty="0">
                <a:latin typeface="Adobe Arabic" panose="02040503050201020203" pitchFamily="18" charset="-78"/>
                <a:cs typeface="Adobe Arabic" panose="02040503050201020203" pitchFamily="18" charset="-78"/>
              </a:rPr>
              <a:t>th</a:t>
            </a:r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 and 6</a:t>
            </a:r>
            <a:r>
              <a:rPr lang="en-US" baseline="30000" dirty="0">
                <a:latin typeface="Adobe Arabic" panose="02040503050201020203" pitchFamily="18" charset="-78"/>
                <a:cs typeface="Adobe Arabic" panose="02040503050201020203" pitchFamily="18" charset="-78"/>
              </a:rPr>
              <a:t>th</a:t>
            </a:r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 generation fighters are focused on piloted fleet command, 4</a:t>
            </a:r>
            <a:r>
              <a:rPr lang="en-US" baseline="30000" dirty="0">
                <a:latin typeface="Adobe Arabic" panose="02040503050201020203" pitchFamily="18" charset="-78"/>
                <a:cs typeface="Adobe Arabic" panose="02040503050201020203" pitchFamily="18" charset="-78"/>
              </a:rPr>
              <a:t>th</a:t>
            </a:r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 generation fighters like the F-16 become main contenders for autonomous conversion (X-62 VISTA Program)</a:t>
            </a:r>
          </a:p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An autonomous F-16 performs flight maneuvers by altering its attitude to change lift and drag vectors for correct translation </a:t>
            </a:r>
          </a:p>
          <a:p>
            <a:pPr lvl="1"/>
            <a:r>
              <a:rPr lang="en-US" sz="2800" dirty="0">
                <a:latin typeface="Adobe Arabic" panose="02040503050201020203" pitchFamily="18" charset="-78"/>
                <a:cs typeface="Adobe Arabic" panose="02040503050201020203" pitchFamily="18" charset="-78"/>
              </a:rPr>
              <a:t>How can we use optimal control to change the attitude of an autonomous F-16?</a:t>
            </a:r>
          </a:p>
          <a:p>
            <a:pPr lvl="1"/>
            <a:endParaRPr 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pPr lvl="1"/>
            <a:endParaRPr 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pPr marL="0" indent="0">
              <a:buNone/>
            </a:pPr>
            <a:endParaRPr 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pic>
        <p:nvPicPr>
          <p:cNvPr id="1026" name="Picture 2" descr="Slovakia Becomes the Newest—and Smallest—Country to Fly the F-16">
            <a:extLst>
              <a:ext uri="{FF2B5EF4-FFF2-40B4-BE49-F238E27FC236}">
                <a16:creationId xmlns:a16="http://schemas.microsoft.com/office/drawing/2014/main" id="{01E1941A-7A57-8AE0-3D27-96CA5E00D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050" y="526415"/>
            <a:ext cx="4416077" cy="2787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General Dynamics X-62 VISTA - Wikipedia">
            <a:extLst>
              <a:ext uri="{FF2B5EF4-FFF2-40B4-BE49-F238E27FC236}">
                <a16:creationId xmlns:a16="http://schemas.microsoft.com/office/drawing/2014/main" id="{2D769E5E-6E37-DF90-9265-10B2D5BF0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050" y="3497134"/>
            <a:ext cx="4416077" cy="2521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136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6CF3-E00C-3804-E441-8B11D6D38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4186232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5F5DD-8782-7368-9543-173735E4D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Aircraft Attitude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25974-2E53-BBD2-B069-A1A00B992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145"/>
            <a:ext cx="10235184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Aircraft attitude is described by </a:t>
            </a:r>
          </a:p>
          <a:p>
            <a:pPr lvl="1"/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1 Longitudinal Angle</a:t>
            </a:r>
          </a:p>
          <a:p>
            <a:pPr lvl="2"/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Pitch Angle – Elevator Controlled</a:t>
            </a:r>
          </a:p>
          <a:p>
            <a:pPr lvl="1"/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2 Lateral Angles</a:t>
            </a:r>
          </a:p>
          <a:p>
            <a:pPr lvl="2"/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Roll Angle – Aileron Controlled</a:t>
            </a:r>
          </a:p>
          <a:p>
            <a:pPr lvl="2"/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Yaw Angle – Rudder Controlled</a:t>
            </a:r>
          </a:p>
          <a:p>
            <a:pPr marL="0" indent="0">
              <a:buNone/>
            </a:pPr>
            <a:endParaRPr 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E2321F-EE34-08BC-3F75-8179247EA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004" y="3843055"/>
            <a:ext cx="4991100" cy="26498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95426C-FA50-3B08-3166-6DBB92053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377" y="3692967"/>
            <a:ext cx="5356347" cy="279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871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2C81D-12B2-9D8B-6D55-CCBD77607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Challenges with Attitude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F2632-9100-FFA4-2116-C6C354A37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8153"/>
            <a:ext cx="10515600" cy="4351338"/>
          </a:xfrm>
        </p:spPr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Single attitude changes are difficult or non-feasible to achieve due to dynamic coupling between attitude states</a:t>
            </a:r>
          </a:p>
          <a:p>
            <a:pPr lvl="1"/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Lateral roll-yaw coupling </a:t>
            </a:r>
          </a:p>
          <a:p>
            <a:pPr lvl="2"/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Roll maneuvers in aircraft typically have pronounced yaw associated with them due to aerodynamic effects</a:t>
            </a:r>
          </a:p>
          <a:p>
            <a:pPr lvl="3"/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Adverse Yaw - Differential drag on port and starboard wings causes a yaw moment</a:t>
            </a:r>
          </a:p>
          <a:p>
            <a:pPr lvl="3"/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Spiral Mode - Sideslip velocity pushes on the vertical tail and creates a yaw moment</a:t>
            </a:r>
          </a:p>
          <a:p>
            <a:pPr marL="1371600" lvl="3" indent="0">
              <a:buNone/>
            </a:pPr>
            <a:endParaRPr 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pPr lvl="2"/>
            <a:endParaRPr 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pPr lvl="2"/>
            <a:endParaRPr 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pPr lvl="2"/>
            <a:endParaRPr 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E739E2-95AB-0E12-EDE5-17809AB13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237" y="4099018"/>
            <a:ext cx="2573043" cy="2561658"/>
          </a:xfrm>
          <a:prstGeom prst="rect">
            <a:avLst/>
          </a:prstGeom>
        </p:spPr>
      </p:pic>
      <p:pic>
        <p:nvPicPr>
          <p:cNvPr id="1026" name="Picture 2" descr="Understanding Adverse Yaw: What Every Pilot Needs to Know • Pilot Rise  Flight School">
            <a:extLst>
              <a:ext uri="{FF2B5EF4-FFF2-40B4-BE49-F238E27FC236}">
                <a16:creationId xmlns:a16="http://schemas.microsoft.com/office/drawing/2014/main" id="{0C4EEE0A-85E9-CD9D-5EFB-5EC4FFCD4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372" y="4099018"/>
            <a:ext cx="3083477" cy="2561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1558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A8DCC-F985-D004-AD01-3C916F752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Problem Formulation</a:t>
            </a:r>
          </a:p>
        </p:txBody>
      </p:sp>
    </p:spTree>
    <p:extLst>
      <p:ext uri="{BB962C8B-B14F-4D97-AF65-F5344CB8AC3E}">
        <p14:creationId xmlns:p14="http://schemas.microsoft.com/office/powerpoint/2010/main" val="2335084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11C28-4404-4902-E6EF-26CA640AE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3B1C9E-13C1-90F6-9858-1926C27AA4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8664"/>
                <a:ext cx="382905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Dynamic coupling, like roll-yaw, make attitude changes harder and without addressing them, flight executions will become inaccurate </a:t>
                </a:r>
              </a:p>
              <a:p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Control Objective:</a:t>
                </a:r>
              </a:p>
              <a:p>
                <a:pPr lvl="1"/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Change the roll angle of an F-16 fighter jet from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dobe Arabic" panose="02040503050201020203" pitchFamily="18" charset="-78"/>
                      </a:rPr>
                      <m:t>0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dobe Arabic" panose="02040503050201020203" pitchFamily="18" charset="-78"/>
                      </a:rPr>
                      <m:t>°</m:t>
                    </m:r>
                  </m:oMath>
                </a14:m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to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  <a:cs typeface="Adobe Arabic" panose="02040503050201020203" pitchFamily="18" charset="-78"/>
                      </a:rPr>
                      <m:t>2</m:t>
                    </m:r>
                    <m:r>
                      <a:rPr lang="en-US" sz="1800" i="1">
                        <a:latin typeface="Cambria Math" panose="02040503050406030204" pitchFamily="18" charset="0"/>
                        <a:cs typeface="Adobe Arabic" panose="02040503050201020203" pitchFamily="18" charset="-78"/>
                      </a:rPr>
                      <m:t>0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dobe Arabic" panose="02040503050201020203" pitchFamily="18" charset="-78"/>
                      </a:rPr>
                      <m:t>° </m:t>
                    </m:r>
                  </m:oMath>
                </a14:m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Adobe Arabic" panose="02040503050201020203" pitchFamily="18" charset="-78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i="0" dirty="0" smtClean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rPr>
                          <m:t>20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dobe Arabic" panose="02040503050201020203" pitchFamily="18" charset="-78"/>
                          </a:rPr>
                          <m:t>°</m:t>
                        </m:r>
                      </m:sup>
                    </m:sSup>
                  </m:oMath>
                </a14:m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degrees while minimizing yaw coupling dynamics</a:t>
                </a:r>
              </a:p>
              <a:p>
                <a:endParaRPr lang="en-US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3B1C9E-13C1-90F6-9858-1926C27AA4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8664"/>
                <a:ext cx="3829050" cy="4351338"/>
              </a:xfrm>
              <a:blipFill>
                <a:blip r:embed="rId2"/>
                <a:stretch>
                  <a:fillRect l="-2866" t="-2661" r="-3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3E5881D-5CB6-BEF1-D5CD-043E6770F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009" y="1963515"/>
            <a:ext cx="4955891" cy="34216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57D644B-2A68-A379-AC48-10D209261796}"/>
                  </a:ext>
                </a:extLst>
              </p:cNvPr>
              <p:cNvSpPr txBox="1"/>
              <p:nvPr/>
            </p:nvSpPr>
            <p:spPr>
              <a:xfrm>
                <a:off x="7491983" y="5626164"/>
                <a:ext cx="1837944" cy="967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19.8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7.6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57D644B-2A68-A379-AC48-10D209261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1983" y="5626164"/>
                <a:ext cx="1837944" cy="9678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0E508CC-B487-ECA2-AF0F-679E470D1B90}"/>
              </a:ext>
            </a:extLst>
          </p:cNvPr>
          <p:cNvSpPr txBox="1"/>
          <p:nvPr/>
        </p:nvSpPr>
        <p:spPr>
          <a:xfrm>
            <a:off x="6720840" y="1472850"/>
            <a:ext cx="3758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Non-Optimal Baseline Aileron Input Response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409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6E568-E7DB-1FD7-64AB-86982A7C9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Technical Approach</a:t>
            </a:r>
          </a:p>
        </p:txBody>
      </p:sp>
    </p:spTree>
    <p:extLst>
      <p:ext uri="{BB962C8B-B14F-4D97-AF65-F5344CB8AC3E}">
        <p14:creationId xmlns:p14="http://schemas.microsoft.com/office/powerpoint/2010/main" val="3991846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0EF33-31AE-4C4B-B3C0-59998B4E7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F16 Lateral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6684FD-6A29-D58A-24FA-02E1C7F4B7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9008"/>
                <a:ext cx="10515600" cy="51969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Linearized for steady, trimmed flight conditions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eqArr>
                                      <m:eqArr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</m:acc>
                                      </m:e>
                                    </m:eqAr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0.078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0.064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−0.202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0.078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−0.99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−22.92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−2.25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0.54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−0.04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−0.31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0.0002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0.0005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−0.4623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0.0569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−0.0244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−0.0469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𝑟𝑑𝑡</m:t>
                          </m:r>
                        </m:e>
                      </m:nary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6684FD-6A29-D58A-24FA-02E1C7F4B7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9008"/>
                <a:ext cx="10515600" cy="5196968"/>
              </a:xfrm>
              <a:blipFill>
                <a:blip r:embed="rId2"/>
                <a:stretch>
                  <a:fillRect l="-1217" t="-1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2C7CB2-BD76-7096-AC45-E6DE1C57A342}"/>
                  </a:ext>
                </a:extLst>
              </p:cNvPr>
              <p:cNvSpPr txBox="1"/>
              <p:nvPr/>
            </p:nvSpPr>
            <p:spPr>
              <a:xfrm>
                <a:off x="2068068" y="4788827"/>
                <a:ext cx="228600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States:</a:t>
                </a:r>
                <a:endParaRPr lang="en-US" sz="2400" i="1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4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– Roll Angle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– Side Slip Angle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– Roll Rate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– Yaw Rate</a:t>
                </a:r>
              </a:p>
              <a:p>
                <a:endParaRPr lang="en-US" sz="2400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  <a:p>
                <a:endParaRPr lang="en-US" sz="2400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2C7CB2-BD76-7096-AC45-E6DE1C57A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068" y="4788827"/>
                <a:ext cx="2286000" cy="2677656"/>
              </a:xfrm>
              <a:prstGeom prst="rect">
                <a:avLst/>
              </a:prstGeom>
              <a:blipFill>
                <a:blip r:embed="rId3"/>
                <a:stretch>
                  <a:fillRect l="-4000" t="-1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D0D26A-B873-047A-8CC9-8AE92105C739}"/>
                  </a:ext>
                </a:extLst>
              </p:cNvPr>
              <p:cNvSpPr txBox="1"/>
              <p:nvPr/>
            </p:nvSpPr>
            <p:spPr>
              <a:xfrm>
                <a:off x="4564380" y="4788827"/>
                <a:ext cx="306324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Inputs: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24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– Aileron Deflection Angle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lang="en-US" sz="24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– Rudder Deflection Angle</a:t>
                </a:r>
              </a:p>
              <a:p>
                <a:endParaRPr lang="en-US" sz="2400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D0D26A-B873-047A-8CC9-8AE92105C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380" y="4788827"/>
                <a:ext cx="3063240" cy="1569660"/>
              </a:xfrm>
              <a:prstGeom prst="rect">
                <a:avLst/>
              </a:prstGeom>
              <a:blipFill>
                <a:blip r:embed="rId4"/>
                <a:stretch>
                  <a:fillRect l="-3187" t="-3113" r="-1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7CCF4C-7A4C-ADD0-A468-08E705325213}"/>
                  </a:ext>
                </a:extLst>
              </p:cNvPr>
              <p:cNvSpPr txBox="1"/>
              <p:nvPr/>
            </p:nvSpPr>
            <p:spPr>
              <a:xfrm>
                <a:off x="7837932" y="4788827"/>
                <a:ext cx="250393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Augmented State: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24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– Yaw Angle</a:t>
                </a:r>
              </a:p>
              <a:p>
                <a:endParaRPr lang="en-US" sz="2400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7CCF4C-7A4C-ADD0-A468-08E705325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932" y="4788827"/>
                <a:ext cx="2503932" cy="1200329"/>
              </a:xfrm>
              <a:prstGeom prst="rect">
                <a:avLst/>
              </a:prstGeom>
              <a:blipFill>
                <a:blip r:embed="rId5"/>
                <a:stretch>
                  <a:fillRect l="-3893" t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5513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1C97F-DAB5-4C73-0C75-6A8D2CD74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Optimal Approach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A3308E-720E-B02A-2E9B-636EDB3052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Control Objective:</a:t>
                </a:r>
              </a:p>
              <a:p>
                <a:pPr lvl="1"/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Change the roll angle of an F-16 fighter jet from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dobe Arabic" panose="02040503050201020203" pitchFamily="18" charset="-78"/>
                      </a:rPr>
                      <m:t>0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dobe Arabic" panose="02040503050201020203" pitchFamily="18" charset="-78"/>
                      </a:rPr>
                      <m:t>°</m:t>
                    </m:r>
                  </m:oMath>
                </a14:m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to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  <a:cs typeface="Adobe Arabic" panose="02040503050201020203" pitchFamily="18" charset="-78"/>
                      </a:rPr>
                      <m:t>2</m:t>
                    </m:r>
                    <m:r>
                      <a:rPr lang="en-US" sz="1800" i="1">
                        <a:latin typeface="Cambria Math" panose="02040503050406030204" pitchFamily="18" charset="0"/>
                        <a:cs typeface="Adobe Arabic" panose="02040503050201020203" pitchFamily="18" charset="-78"/>
                      </a:rPr>
                      <m:t>0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dobe Arabic" panose="02040503050201020203" pitchFamily="18" charset="-78"/>
                      </a:rPr>
                      <m:t>° </m:t>
                    </m:r>
                  </m:oMath>
                </a14:m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while minimizing yaw coupling dynamics</a:t>
                </a:r>
              </a:p>
              <a:p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Approach: Use linear quadratic tracking, LQT, to minimize error between the desired states and actual states for a fixed finite time range</a:t>
                </a:r>
              </a:p>
              <a:p>
                <a:pPr lvl="1"/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Steps:</a:t>
                </a:r>
              </a:p>
              <a:p>
                <a:pPr lvl="2"/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Define the cost function</a:t>
                </a:r>
              </a:p>
              <a:p>
                <a:pPr lvl="2"/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Define desired state trajectory</a:t>
                </a:r>
              </a:p>
              <a:p>
                <a:pPr lvl="2"/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Solve LQT using </a:t>
                </a:r>
                <a:r>
                  <a:rPr lang="en-US" dirty="0" err="1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Pontryagin’s</a:t>
                </a:r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minimum principle</a:t>
                </a:r>
              </a:p>
              <a:p>
                <a:pPr lvl="2"/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Tune weights</a:t>
                </a:r>
              </a:p>
              <a:p>
                <a:pPr lvl="4"/>
                <a:endParaRPr lang="en-US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  <a:p>
                <a:pPr lvl="3"/>
                <a:endParaRPr lang="en-US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  <a:p>
                <a:pPr marL="457200" lvl="1" indent="0">
                  <a:buNone/>
                </a:pPr>
                <a:endParaRPr lang="en-US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A3308E-720E-B02A-2E9B-636EDB3052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8943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C62F-9C12-7C2F-B032-D63E540A6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Function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E1814E-6BDE-63BA-9709-6812FDCBDD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7904"/>
                <a:ext cx="10765536" cy="4659059"/>
              </a:xfrm>
            </p:spPr>
            <p:txBody>
              <a:bodyPr>
                <a:normAutofit/>
              </a:bodyPr>
              <a:lstStyle/>
              <a:p>
                <a:r>
                  <a:rPr lang="en-US" sz="26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General cost function for LQT</a:t>
                </a:r>
              </a:p>
              <a:p>
                <a:endParaRPr lang="en-US" sz="2600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6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6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penalize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6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6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while allowing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6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6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to be free to not over constrain the dynamics</a:t>
                </a:r>
              </a:p>
              <a:p>
                <a:endParaRPr lang="en-US" sz="2600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  <a:p>
                <a:endParaRPr lang="en-US" sz="2600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6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penalize’s both control inputs to ensure actuator limits aren’t exceeded</a:t>
                </a:r>
              </a:p>
              <a:p>
                <a:endParaRPr lang="en-US" sz="2600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  <a:p>
                <a:r>
                  <a:rPr lang="en-US" sz="26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Final Cost Function</a:t>
                </a:r>
              </a:p>
              <a:p>
                <a:pPr marL="0" indent="0">
                  <a:buNone/>
                </a:pPr>
                <a:endParaRPr lang="en-US" sz="2600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E1814E-6BDE-63BA-9709-6812FDCBDD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7904"/>
                <a:ext cx="10765536" cy="4659059"/>
              </a:xfrm>
              <a:blipFill>
                <a:blip r:embed="rId2"/>
                <a:stretch>
                  <a:fillRect l="-906" t="-2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724F02-D3DD-E5AA-1883-4FF6A8AE6854}"/>
                  </a:ext>
                </a:extLst>
              </p:cNvPr>
              <p:cNvSpPr txBox="1"/>
              <p:nvPr/>
            </p:nvSpPr>
            <p:spPr>
              <a:xfrm>
                <a:off x="2870453" y="1916242"/>
                <a:ext cx="6451092" cy="776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 J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𝑄𝑒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+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𝑅𝑢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724F02-D3DD-E5AA-1883-4FF6A8AE6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0453" y="1916242"/>
                <a:ext cx="6451092" cy="776238"/>
              </a:xfrm>
              <a:prstGeom prst="rect">
                <a:avLst/>
              </a:prstGeom>
              <a:blipFill>
                <a:blip r:embed="rId3"/>
                <a:stretch>
                  <a:fillRect l="-95" t="-63281" b="-61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93AEF3-DDCC-5E1A-FADC-C26F549AEB19}"/>
                  </a:ext>
                </a:extLst>
              </p:cNvPr>
              <p:cNvSpPr txBox="1"/>
              <p:nvPr/>
            </p:nvSpPr>
            <p:spPr>
              <a:xfrm>
                <a:off x="3778373" y="2997684"/>
                <a:ext cx="1969514" cy="9484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44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93AEF3-DDCC-5E1A-FADC-C26F549AE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373" y="2997684"/>
                <a:ext cx="1969514" cy="9484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F377067-FCD3-656D-E60D-A897A2FCE0FA}"/>
                  </a:ext>
                </a:extLst>
              </p:cNvPr>
              <p:cNvSpPr txBox="1"/>
              <p:nvPr/>
            </p:nvSpPr>
            <p:spPr>
              <a:xfrm>
                <a:off x="6444115" y="2994209"/>
                <a:ext cx="2042932" cy="9396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44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F377067-FCD3-656D-E60D-A897A2FCE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4115" y="2994209"/>
                <a:ext cx="2042932" cy="9396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B7B319-E50B-3A1E-70B9-0281C640C5ED}"/>
                  </a:ext>
                </a:extLst>
              </p:cNvPr>
              <p:cNvSpPr txBox="1"/>
              <p:nvPr/>
            </p:nvSpPr>
            <p:spPr>
              <a:xfrm>
                <a:off x="5437613" y="4516371"/>
                <a:ext cx="1316771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B7B319-E50B-3A1E-70B9-0281C640C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7613" y="4516371"/>
                <a:ext cx="1316771" cy="456022"/>
              </a:xfrm>
              <a:prstGeom prst="rect">
                <a:avLst/>
              </a:prstGeom>
              <a:blipFill>
                <a:blip r:embed="rId6"/>
                <a:stretch>
                  <a:fillRect l="-3704" t="-1333" b="-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C57687-A493-2CBF-51C5-C9092F3A0595}"/>
                  </a:ext>
                </a:extLst>
              </p:cNvPr>
              <p:cNvSpPr txBox="1"/>
              <p:nvPr/>
            </p:nvSpPr>
            <p:spPr>
              <a:xfrm>
                <a:off x="1959864" y="5377568"/>
                <a:ext cx="8522208" cy="950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i="1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44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44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1600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C57687-A493-2CBF-51C5-C9092F3A0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864" y="5377568"/>
                <a:ext cx="8522208" cy="9502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6729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801E-D6A3-9208-6962-6FC74A970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Desired State Trajectory for Tracking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19A0E9-039A-9861-1550-75645C4EE9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86472" y="2540458"/>
                <a:ext cx="4917567" cy="2315782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sSub>
                                  <m:sSubPr>
                                    <m:ctrlP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sSub>
                                  <m:sSubPr>
                                    <m:ctrlP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sSub>
                                  <m:sSubPr>
                                    <m:ctrlP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sSub>
                                  <m:sSubPr>
                                    <m:ctrlP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6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  <m:sSub>
                                  <m:sSubPr>
                                    <m:ctrlP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𝑎𝑐𝑡𝑢𝑎𝑙</m:t>
                                    </m:r>
                                  </m:sub>
                                </m:sSub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  <m:sSub>
                                  <m:sSubPr>
                                    <m:ctrlP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𝑑𝑒𝑠𝑖𝑟𝑒𝑑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sSub>
                                  <m:sSubPr>
                                    <m:ctrlP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𝑎𝑐𝑡𝑢𝑎𝑙</m:t>
                                    </m:r>
                                  </m:sub>
                                </m:sSub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sSub>
                                  <m:sSubPr>
                                    <m:ctrlP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𝑑𝑒𝑠𝑖𝑟𝑒𝑑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𝑎𝑐𝑡𝑢𝑎𝑙</m:t>
                                    </m:r>
                                  </m:sub>
                                </m:sSub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𝑑𝑒𝑠𝑖𝑟𝑒𝑑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sSub>
                                  <m:sSubPr>
                                    <m:ctrlP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𝑎𝑐𝑡𝑢𝑎𝑙</m:t>
                                    </m:r>
                                  </m:sub>
                                </m:sSub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sSub>
                                  <m:sSubPr>
                                    <m:ctrlP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𝑑𝑒𝑠𝑖𝑟𝑒𝑑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6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 0</m:t>
                      </m:r>
                    </m:oMath>
                  </m:oMathPara>
                </a14:m>
                <a:endParaRPr lang="en-US" sz="26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 10</m:t>
                      </m:r>
                    </m:oMath>
                  </m:oMathPara>
                </a14:m>
                <a:endParaRPr lang="en-US" sz="2600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19A0E9-039A-9861-1550-75645C4EE9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86472" y="2540458"/>
                <a:ext cx="4917567" cy="2315782"/>
              </a:xfrm>
              <a:blipFill>
                <a:blip r:embed="rId2"/>
                <a:stretch>
                  <a:fillRect t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08F9AF7A-17F7-D760-68BA-AB7310D53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" y="1690688"/>
            <a:ext cx="7223854" cy="449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114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35DC2-3AE0-4603-EC44-EE6BD8A05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0987-5B60-C0BB-595E-7F40FAD9E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-156314"/>
            <a:ext cx="10515600" cy="1325563"/>
          </a:xfrm>
        </p:spPr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Solving LQT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7EE97-C7E9-7E36-3461-6579C6343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989380"/>
            <a:ext cx="10515600" cy="5330349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Adobe Arabic" panose="02040503050201020203" pitchFamily="18" charset="-78"/>
                <a:cs typeface="Adobe Arabic" panose="02040503050201020203" pitchFamily="18" charset="-78"/>
              </a:rPr>
              <a:t>- Solve matrix differential </a:t>
            </a:r>
            <a:r>
              <a:rPr lang="en-US" sz="2000" dirty="0" err="1">
                <a:latin typeface="Adobe Arabic" panose="02040503050201020203" pitchFamily="18" charset="-78"/>
                <a:cs typeface="Adobe Arabic" panose="02040503050201020203" pitchFamily="18" charset="-78"/>
              </a:rPr>
              <a:t>Ricatti</a:t>
            </a:r>
            <a:r>
              <a:rPr lang="en-US" sz="2000" dirty="0">
                <a:latin typeface="Adobe Arabic" panose="02040503050201020203" pitchFamily="18" charset="-78"/>
                <a:cs typeface="Adobe Arabic" panose="02040503050201020203" pitchFamily="18" charset="-78"/>
              </a:rPr>
              <a:t> equation backwards in time</a:t>
            </a:r>
          </a:p>
          <a:p>
            <a:pPr marL="0" indent="0">
              <a:buNone/>
            </a:pPr>
            <a:endParaRPr lang="en-US" sz="20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pPr marL="0" indent="0">
              <a:buNone/>
            </a:pPr>
            <a:r>
              <a:rPr lang="en-US" sz="2000" dirty="0">
                <a:latin typeface="Adobe Arabic" panose="02040503050201020203" pitchFamily="18" charset="-78"/>
                <a:cs typeface="Adobe Arabic" panose="02040503050201020203" pitchFamily="18" charset="-78"/>
              </a:rPr>
              <a:t>with BC</a:t>
            </a:r>
          </a:p>
          <a:p>
            <a:pPr marL="457200" lvl="1" indent="0">
              <a:buNone/>
            </a:pPr>
            <a:endParaRPr lang="en-US" sz="2000" i="1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pPr marL="0" indent="0">
              <a:buNone/>
            </a:pPr>
            <a:r>
              <a:rPr lang="en-US" sz="2000" b="0" dirty="0">
                <a:latin typeface="Adobe Arabic" panose="02040503050201020203" pitchFamily="18" charset="-78"/>
                <a:cs typeface="Adobe Arabic" panose="02040503050201020203" pitchFamily="18" charset="-78"/>
              </a:rPr>
              <a:t>- Solve </a:t>
            </a:r>
            <a:r>
              <a:rPr lang="en-US" sz="2000" dirty="0">
                <a:latin typeface="Adobe Arabic" panose="02040503050201020203" pitchFamily="18" charset="-78"/>
                <a:cs typeface="Adobe Arabic" panose="02040503050201020203" pitchFamily="18" charset="-78"/>
              </a:rPr>
              <a:t>vector differential equation backwards in time </a:t>
            </a:r>
          </a:p>
          <a:p>
            <a:pPr marL="0" indent="0">
              <a:buNone/>
            </a:pPr>
            <a:endParaRPr lang="en-US" sz="2000" b="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pPr marL="0" indent="0">
              <a:buNone/>
            </a:pPr>
            <a:r>
              <a:rPr lang="en-US" sz="2000" dirty="0">
                <a:latin typeface="Adobe Arabic" panose="02040503050201020203" pitchFamily="18" charset="-78"/>
                <a:cs typeface="Adobe Arabic" panose="02040503050201020203" pitchFamily="18" charset="-78"/>
              </a:rPr>
              <a:t>with BC</a:t>
            </a:r>
          </a:p>
          <a:p>
            <a:pPr marL="0" indent="0">
              <a:buNone/>
            </a:pPr>
            <a:endParaRPr lang="en-US" sz="20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pPr marL="0" indent="0">
              <a:buNone/>
            </a:pPr>
            <a:r>
              <a:rPr lang="en-US" sz="2000" dirty="0">
                <a:latin typeface="Adobe Arabic" panose="02040503050201020203" pitchFamily="18" charset="-78"/>
                <a:cs typeface="Adobe Arabic" panose="02040503050201020203" pitchFamily="18" charset="-78"/>
              </a:rPr>
              <a:t>- Solve optimal state progression forwards in time </a:t>
            </a:r>
          </a:p>
          <a:p>
            <a:pPr marL="0" indent="0">
              <a:buNone/>
            </a:pPr>
            <a:endParaRPr lang="en-US" sz="20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pPr marL="0" indent="0">
              <a:buNone/>
            </a:pPr>
            <a:r>
              <a:rPr lang="en-US" sz="2000" dirty="0">
                <a:latin typeface="Adobe Arabic" panose="02040503050201020203" pitchFamily="18" charset="-78"/>
                <a:cs typeface="Adobe Arabic" panose="02040503050201020203" pitchFamily="18" charset="-78"/>
              </a:rPr>
              <a:t>with BC for initial trimmed flight</a:t>
            </a:r>
          </a:p>
          <a:p>
            <a:pPr marL="0" indent="0">
              <a:buNone/>
            </a:pPr>
            <a:endParaRPr lang="en-US" sz="24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pPr marL="0" indent="0">
              <a:buNone/>
            </a:pPr>
            <a:r>
              <a:rPr lang="en-US" sz="2000" dirty="0">
                <a:latin typeface="Adobe Arabic" panose="02040503050201020203" pitchFamily="18" charset="-78"/>
                <a:cs typeface="Adobe Arabic" panose="02040503050201020203" pitchFamily="18" charset="-78"/>
              </a:rPr>
              <a:t>- Solve for optimal input </a:t>
            </a:r>
          </a:p>
          <a:p>
            <a:pPr marL="0" indent="0">
              <a:buNone/>
            </a:pPr>
            <a:endParaRPr lang="en-US" sz="24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pPr marL="0" indent="0">
              <a:buNone/>
            </a:pPr>
            <a:endParaRPr 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62BAD8-4388-EC98-836C-197A901B8F7A}"/>
                  </a:ext>
                </a:extLst>
              </p:cNvPr>
              <p:cNvSpPr txBox="1"/>
              <p:nvPr/>
            </p:nvSpPr>
            <p:spPr>
              <a:xfrm>
                <a:off x="3080763" y="1379008"/>
                <a:ext cx="6030468" cy="680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endParaRPr lang="en-US" sz="20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62BAD8-4388-EC98-836C-197A901B8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0763" y="1379008"/>
                <a:ext cx="6030468" cy="680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05011A-925B-29F8-BD9B-A3261DA2374D}"/>
                  </a:ext>
                </a:extLst>
              </p:cNvPr>
              <p:cNvSpPr txBox="1"/>
              <p:nvPr/>
            </p:nvSpPr>
            <p:spPr>
              <a:xfrm>
                <a:off x="4733220" y="2059456"/>
                <a:ext cx="2725554" cy="688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05011A-925B-29F8-BD9B-A3261DA23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220" y="2059456"/>
                <a:ext cx="2725554" cy="688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BB19967-E840-E021-271F-E47A40934589}"/>
                  </a:ext>
                </a:extLst>
              </p:cNvPr>
              <p:cNvSpPr txBox="1"/>
              <p:nvPr/>
            </p:nvSpPr>
            <p:spPr>
              <a:xfrm>
                <a:off x="3311650" y="2916824"/>
                <a:ext cx="556869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BB19967-E840-E021-271F-E47A40934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650" y="2916824"/>
                <a:ext cx="5568696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C9A3CD-D9ED-B2D0-6832-5CBA0D76A459}"/>
                  </a:ext>
                </a:extLst>
              </p:cNvPr>
              <p:cNvSpPr txBox="1"/>
              <p:nvPr/>
            </p:nvSpPr>
            <p:spPr>
              <a:xfrm>
                <a:off x="4134609" y="3618162"/>
                <a:ext cx="3922776" cy="688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C9A3CD-D9ED-B2D0-6832-5CBA0D76A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4609" y="3618162"/>
                <a:ext cx="3922776" cy="688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B18596-C315-CA7A-BA5E-5E0498677A8B}"/>
                  </a:ext>
                </a:extLst>
              </p:cNvPr>
              <p:cNvSpPr txBox="1"/>
              <p:nvPr/>
            </p:nvSpPr>
            <p:spPr>
              <a:xfrm>
                <a:off x="3206264" y="4535174"/>
                <a:ext cx="4663905" cy="369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*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B18596-C315-CA7A-BA5E-5E0498677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64" y="4535174"/>
                <a:ext cx="4663905" cy="369397"/>
              </a:xfrm>
              <a:prstGeom prst="rect">
                <a:avLst/>
              </a:prstGeom>
              <a:blipFill>
                <a:blip r:embed="rId6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C6D2A2-5919-AAD4-E528-9F386F4D3993}"/>
                  </a:ext>
                </a:extLst>
              </p:cNvPr>
              <p:cNvSpPr txBox="1"/>
              <p:nvPr/>
            </p:nvSpPr>
            <p:spPr>
              <a:xfrm>
                <a:off x="1780764" y="5429182"/>
                <a:ext cx="86304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=0) = 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0   </m:t>
                            </m:r>
                          </m:e>
                        </m:mr>
                      </m:m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]′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C6D2A2-5919-AAD4-E528-9F386F4D3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764" y="5429182"/>
                <a:ext cx="8630466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C8E4623-9AE4-204A-794F-B5F0C9684D88}"/>
                  </a:ext>
                </a:extLst>
              </p:cNvPr>
              <p:cNvSpPr txBox="1"/>
              <p:nvPr/>
            </p:nvSpPr>
            <p:spPr>
              <a:xfrm>
                <a:off x="2620462" y="6203683"/>
                <a:ext cx="6951070" cy="8372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C8E4623-9AE4-204A-794F-B5F0C9684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462" y="6203683"/>
                <a:ext cx="6951070" cy="837217"/>
              </a:xfrm>
              <a:prstGeom prst="rect">
                <a:avLst/>
              </a:prstGeom>
              <a:blipFill>
                <a:blip r:embed="rId8"/>
                <a:stretch>
                  <a:fillRect l="-175" t="-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4064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07BB8-1D2B-8381-49F4-9EA7001A7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Design Goals for Weight Tuning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608975-6104-E32C-4422-34A964BB88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Solving LQT returns the optimal input and state progression for the chosen weightings, but the chosen weightings might not result in a desirable response</a:t>
                </a:r>
              </a:p>
              <a:p>
                <a:pPr lvl="1"/>
                <a:r>
                  <a:rPr lang="en-US" sz="28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Design goals for weight tunning:</a:t>
                </a:r>
              </a:p>
              <a:p>
                <a:pPr lvl="2"/>
                <a:r>
                  <a:rPr lang="en-US" sz="28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Reach the final desired roll angle with an error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endParaRPr lang="en-US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  <a:p>
                <a:pPr lvl="2"/>
                <a:r>
                  <a:rPr lang="en-US" sz="28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If the desired ramp trajectory is not easily trackable while avoiding yaw coupling, avoid oscillations in the true roll trajectory </a:t>
                </a:r>
              </a:p>
              <a:p>
                <a:pPr lvl="2"/>
                <a:r>
                  <a:rPr lang="en-US" sz="28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Minimize the yaw coupling</a:t>
                </a:r>
              </a:p>
              <a:p>
                <a:pPr lvl="2"/>
                <a:r>
                  <a:rPr lang="en-US" sz="28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Don’t exceed actuator limits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608975-6104-E32C-4422-34A964BB88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7190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956A4-430F-4345-5D35-EBC4877E3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Weightings Case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C1CF95-1543-9D2C-2339-29CA1C2DF8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983" y="2154133"/>
                <a:ext cx="3066288" cy="27797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eqAr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C1CF95-1543-9D2C-2339-29CA1C2DF8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983" y="2154133"/>
                <a:ext cx="3066288" cy="2779776"/>
              </a:xfrm>
              <a:blipFill>
                <a:blip r:embed="rId2"/>
                <a:stretch>
                  <a:fillRect t="-50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57C09DD-0069-1B36-5AE7-92C37814E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017" y="1690688"/>
            <a:ext cx="6227064" cy="42758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1477CB-DB44-4C23-1AC3-EF07B5278363}"/>
                  </a:ext>
                </a:extLst>
              </p:cNvPr>
              <p:cNvSpPr txBox="1"/>
              <p:nvPr/>
            </p:nvSpPr>
            <p:spPr>
              <a:xfrm>
                <a:off x="9960073" y="3060106"/>
                <a:ext cx="1837944" cy="967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11.7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5.1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1477CB-DB44-4C23-1AC3-EF07B5278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0073" y="3060106"/>
                <a:ext cx="1837944" cy="9678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717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4E846-A588-2534-478D-8915A80A1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12BFB-77E3-297A-EED7-61B051645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Weightings Case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88DBB5-A18F-72E1-70DA-458B3F7B42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983" y="2181565"/>
                <a:ext cx="3066288" cy="27797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600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eqAr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88DBB5-A18F-72E1-70DA-458B3F7B42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983" y="2181565"/>
                <a:ext cx="3066288" cy="2779776"/>
              </a:xfrm>
              <a:blipFill>
                <a:blip r:embed="rId2"/>
                <a:stretch>
                  <a:fillRect t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35F550-4FEB-EFB4-CFA5-F7F0009E003E}"/>
                  </a:ext>
                </a:extLst>
              </p:cNvPr>
              <p:cNvSpPr txBox="1"/>
              <p:nvPr/>
            </p:nvSpPr>
            <p:spPr>
              <a:xfrm>
                <a:off x="9960073" y="3060106"/>
                <a:ext cx="1837944" cy="967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19.9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7.7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35F550-4FEB-EFB4-CFA5-F7F0009E0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0073" y="3060106"/>
                <a:ext cx="1837944" cy="9678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8E54DC1-5304-D8D5-B7C4-1D718261E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4262" y="1690688"/>
            <a:ext cx="6211820" cy="427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6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8B72-56C3-100A-CC9C-7AE3D1057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804EE-D3D7-EE98-2158-0F87B161A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Weightings Case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D15AAB-5F2A-8C02-8F56-FCB1D1C0A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983" y="2181565"/>
                <a:ext cx="3066288" cy="27797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600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450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eqAr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D15AAB-5F2A-8C02-8F56-FCB1D1C0A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983" y="2181565"/>
                <a:ext cx="3066288" cy="2779776"/>
              </a:xfrm>
              <a:blipFill>
                <a:blip r:embed="rId2"/>
                <a:stretch>
                  <a:fillRect t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896BE0-BB38-9DC1-362E-7CEF6EABD5C3}"/>
                  </a:ext>
                </a:extLst>
              </p:cNvPr>
              <p:cNvSpPr txBox="1"/>
              <p:nvPr/>
            </p:nvSpPr>
            <p:spPr>
              <a:xfrm>
                <a:off x="9960073" y="3060106"/>
                <a:ext cx="1837944" cy="967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19.7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5.8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896BE0-BB38-9DC1-362E-7CEF6EABD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0073" y="3060106"/>
                <a:ext cx="1837944" cy="9678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08B3EC1-4AE2-A839-EE01-9027EAB7F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500" y="1690688"/>
            <a:ext cx="6249344" cy="427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520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A1F0F-C86D-1CEE-A578-4E8C54B2C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09E05-4F19-1DDD-C14A-750E4F544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Weightings Case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6C5704-A239-0BF9-F5FF-40BC32EAD8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983" y="2181565"/>
                <a:ext cx="3066288" cy="2779776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10500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000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5000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5.5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2.9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eqAr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6C5704-A239-0BF9-F5FF-40BC32EAD8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983" y="2181565"/>
                <a:ext cx="3066288" cy="2779776"/>
              </a:xfrm>
              <a:blipFill>
                <a:blip r:embed="rId2"/>
                <a:stretch>
                  <a:fillRect t="-4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78BE26-D244-9C6C-0084-BF9C23210C44}"/>
                  </a:ext>
                </a:extLst>
              </p:cNvPr>
              <p:cNvSpPr txBox="1"/>
              <p:nvPr/>
            </p:nvSpPr>
            <p:spPr>
              <a:xfrm>
                <a:off x="9960073" y="3060106"/>
                <a:ext cx="1837944" cy="984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19.9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4.3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78BE26-D244-9C6C-0084-BF9C23210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0073" y="3060106"/>
                <a:ext cx="1837944" cy="9843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97A444F-E35F-3081-A75A-6FEB3BFCF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984" y="1690688"/>
            <a:ext cx="6208376" cy="427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5825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67A5A-B9F9-66B1-8A02-F968F5D44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Simulation Results</a:t>
            </a:r>
          </a:p>
        </p:txBody>
      </p:sp>
    </p:spTree>
    <p:extLst>
      <p:ext uri="{BB962C8B-B14F-4D97-AF65-F5344CB8AC3E}">
        <p14:creationId xmlns:p14="http://schemas.microsoft.com/office/powerpoint/2010/main" val="733035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8F461-DAFD-8D8C-CD89-49D0F7281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641" y="136143"/>
            <a:ext cx="6458712" cy="1325563"/>
          </a:xfrm>
        </p:spPr>
        <p:txBody>
          <a:bodyPr/>
          <a:lstStyle/>
          <a:p>
            <a:pPr algn="ctr"/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Final Attitude Comparison 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8566DF2C-EF27-948D-CB74-C681E34866F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69992477"/>
                  </p:ext>
                </p:extLst>
              </p:nvPr>
            </p:nvGraphicFramePr>
            <p:xfrm>
              <a:off x="838198" y="1187005"/>
              <a:ext cx="10515597" cy="224199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80688">
                      <a:extLst>
                        <a:ext uri="{9D8B030D-6E8A-4147-A177-3AD203B41FA5}">
                          <a16:colId xmlns:a16="http://schemas.microsoft.com/office/drawing/2014/main" val="4242588265"/>
                        </a:ext>
                      </a:extLst>
                    </a:gridCol>
                    <a:gridCol w="3383280">
                      <a:extLst>
                        <a:ext uri="{9D8B030D-6E8A-4147-A177-3AD203B41FA5}">
                          <a16:colId xmlns:a16="http://schemas.microsoft.com/office/drawing/2014/main" val="569258880"/>
                        </a:ext>
                      </a:extLst>
                    </a:gridCol>
                    <a:gridCol w="3151629">
                      <a:extLst>
                        <a:ext uri="{9D8B030D-6E8A-4147-A177-3AD203B41FA5}">
                          <a16:colId xmlns:a16="http://schemas.microsoft.com/office/drawing/2014/main" val="16960501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Controller Design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𝑓𝑖𝑛𝑎𝑙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𝑓𝑖𝑛𝑎𝑙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62087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Non-Optimal Baseline Aileron Input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19.8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7.6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49568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Optimal LQT: Weightings Case 1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11.7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5.1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9761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Optimal LQT: Weightings Case 2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19.9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7.7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5349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Optimal LQT: Weightings Case 3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19.7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5.8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7566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Optimal LQT: Weightings Case 4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19.9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4.3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68728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8566DF2C-EF27-948D-CB74-C681E34866F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69992477"/>
                  </p:ext>
                </p:extLst>
              </p:nvPr>
            </p:nvGraphicFramePr>
            <p:xfrm>
              <a:off x="838198" y="1187005"/>
              <a:ext cx="10515597" cy="224199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80688">
                      <a:extLst>
                        <a:ext uri="{9D8B030D-6E8A-4147-A177-3AD203B41FA5}">
                          <a16:colId xmlns:a16="http://schemas.microsoft.com/office/drawing/2014/main" val="4242588265"/>
                        </a:ext>
                      </a:extLst>
                    </a:gridCol>
                    <a:gridCol w="3383280">
                      <a:extLst>
                        <a:ext uri="{9D8B030D-6E8A-4147-A177-3AD203B41FA5}">
                          <a16:colId xmlns:a16="http://schemas.microsoft.com/office/drawing/2014/main" val="569258880"/>
                        </a:ext>
                      </a:extLst>
                    </a:gridCol>
                    <a:gridCol w="3151629">
                      <a:extLst>
                        <a:ext uri="{9D8B030D-6E8A-4147-A177-3AD203B41FA5}">
                          <a16:colId xmlns:a16="http://schemas.microsoft.com/office/drawing/2014/main" val="1696050126"/>
                        </a:ext>
                      </a:extLst>
                    </a:gridCol>
                  </a:tblGrid>
                  <a:tr h="387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Controller Design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7626" t="-6250" r="-93705" b="-50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4043" t="-6250" r="-774" b="-5015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62087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Non-Optimal Baseline Aileron Input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7626" t="-111475" r="-93705" b="-4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4043" t="-111475" r="-774" b="-4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49568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Optimal LQT: Weightings Case 1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7626" t="-211475" r="-93705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4043" t="-211475" r="-774" b="-3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9761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Optimal LQT: Weightings Case 2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7626" t="-311475" r="-93705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4043" t="-311475" r="-774" b="-2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5349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Optimal LQT: Weightings Case 3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7626" t="-411475" r="-93705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4043" t="-411475" r="-774" b="-1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7566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Optimal LQT: Weightings Case 4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7626" t="-511475" r="-93705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4043" t="-511475" r="-774" b="-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68728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F5716E-969E-DF28-296D-4178151BBC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44431"/>
                  </p:ext>
                </p:extLst>
              </p:nvPr>
            </p:nvGraphicFramePr>
            <p:xfrm>
              <a:off x="1378708" y="4336606"/>
              <a:ext cx="9434578" cy="1920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47010">
                      <a:extLst>
                        <a:ext uri="{9D8B030D-6E8A-4147-A177-3AD203B41FA5}">
                          <a16:colId xmlns:a16="http://schemas.microsoft.com/office/drawing/2014/main" val="151290284"/>
                        </a:ext>
                      </a:extLst>
                    </a:gridCol>
                    <a:gridCol w="2907792">
                      <a:extLst>
                        <a:ext uri="{9D8B030D-6E8A-4147-A177-3AD203B41FA5}">
                          <a16:colId xmlns:a16="http://schemas.microsoft.com/office/drawing/2014/main" val="1329811338"/>
                        </a:ext>
                      </a:extLst>
                    </a:gridCol>
                    <a:gridCol w="2779776">
                      <a:extLst>
                        <a:ext uri="{9D8B030D-6E8A-4147-A177-3AD203B41FA5}">
                          <a16:colId xmlns:a16="http://schemas.microsoft.com/office/drawing/2014/main" val="3448428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Controller Design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Final Attitude Error for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oMath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Final Attitude Error for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oMath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  <a:p>
                          <a:pPr algn="ctr"/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57931525"/>
                      </a:ext>
                    </a:extLst>
                  </a:tr>
                  <a:tr h="25876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Non-Optimal Baseline Aileron Input</a:t>
                          </a:r>
                        </a:p>
                        <a:p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−0.2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7.6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  <a:p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05202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Optimal LQT: Weightings Case 4</a:t>
                          </a:r>
                        </a:p>
                        <a:p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−0.1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  <a:p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4.3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  <a:p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17102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F5716E-969E-DF28-296D-4178151BBC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44431"/>
                  </p:ext>
                </p:extLst>
              </p:nvPr>
            </p:nvGraphicFramePr>
            <p:xfrm>
              <a:off x="1378708" y="4336606"/>
              <a:ext cx="9434578" cy="1920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47010">
                      <a:extLst>
                        <a:ext uri="{9D8B030D-6E8A-4147-A177-3AD203B41FA5}">
                          <a16:colId xmlns:a16="http://schemas.microsoft.com/office/drawing/2014/main" val="151290284"/>
                        </a:ext>
                      </a:extLst>
                    </a:gridCol>
                    <a:gridCol w="2907792">
                      <a:extLst>
                        <a:ext uri="{9D8B030D-6E8A-4147-A177-3AD203B41FA5}">
                          <a16:colId xmlns:a16="http://schemas.microsoft.com/office/drawing/2014/main" val="1329811338"/>
                        </a:ext>
                      </a:extLst>
                    </a:gridCol>
                    <a:gridCol w="2779776">
                      <a:extLst>
                        <a:ext uri="{9D8B030D-6E8A-4147-A177-3AD203B41FA5}">
                          <a16:colId xmlns:a16="http://schemas.microsoft.com/office/drawing/2014/main" val="344842868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Controller Design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9140" t="-3810" r="-96436" b="-2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39693" t="-3810" r="-877" b="-2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793152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Non-Optimal Baseline Aileron Input</a:t>
                          </a:r>
                        </a:p>
                        <a:p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9140" t="-102830" r="-96436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39693" t="-102830" r="-877" b="-100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052021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Optimal LQT: Weightings Case 4</a:t>
                          </a:r>
                        </a:p>
                        <a:p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9140" t="-204762" r="-96436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39693" t="-204762" r="-877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17102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4D813940-B22C-3D82-D574-B1B2C4E31984}"/>
              </a:ext>
            </a:extLst>
          </p:cNvPr>
          <p:cNvSpPr txBox="1">
            <a:spLocks/>
          </p:cNvSpPr>
          <p:nvPr/>
        </p:nvSpPr>
        <p:spPr>
          <a:xfrm>
            <a:off x="2724146" y="3327781"/>
            <a:ext cx="674370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Non-Optimal vs Optimal Comparison</a:t>
            </a:r>
          </a:p>
        </p:txBody>
      </p:sp>
    </p:spTree>
    <p:extLst>
      <p:ext uri="{BB962C8B-B14F-4D97-AF65-F5344CB8AC3E}">
        <p14:creationId xmlns:p14="http://schemas.microsoft.com/office/powerpoint/2010/main" val="825022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ViewFinal">
            <a:hlinkClick r:id="" action="ppaction://media"/>
            <a:extLst>
              <a:ext uri="{FF2B5EF4-FFF2-40B4-BE49-F238E27FC236}">
                <a16:creationId xmlns:a16="http://schemas.microsoft.com/office/drawing/2014/main" id="{303579F5-858C-9F44-23EA-42682D61EF3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432" y="36576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429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1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opViewFinal">
            <a:hlinkClick r:id="" action="ppaction://media"/>
            <a:extLst>
              <a:ext uri="{FF2B5EF4-FFF2-40B4-BE49-F238E27FC236}">
                <a16:creationId xmlns:a16="http://schemas.microsoft.com/office/drawing/2014/main" id="{1E6FB23E-7577-E118-7C48-BD5D3335780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9144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53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1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0E442-5118-6E5C-B085-25A18E774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90AB7-FE87-23FB-F762-7988E9F2F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Use a dynamic model that has the yaw angle as a direct state for minimization</a:t>
            </a:r>
          </a:p>
          <a:p>
            <a:pPr lvl="1"/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Yaw rate is the state most indicative of the yaw angle, but the other states do play some sort of roll in those dynamics. To better suppress yaw coupling, a direct yaw state will have greater impact on optimization</a:t>
            </a:r>
          </a:p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Use a dynamic model that has individual aileron input’s rather than a single antisymmetric aileron input </a:t>
            </a:r>
          </a:p>
          <a:p>
            <a:pPr marL="0" indent="0">
              <a:buNone/>
            </a:pPr>
            <a:endParaRPr 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16996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6C5FE-3B67-A019-B75A-F1308E3F3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914" y="2776911"/>
            <a:ext cx="2926334" cy="1133475"/>
          </a:xfrm>
        </p:spPr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Questions?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1240C4-FC3E-5D2E-59D1-D052F07F5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8" t="17177" r="6329" b="17655"/>
          <a:stretch>
            <a:fillRect/>
          </a:stretch>
        </p:blipFill>
        <p:spPr>
          <a:xfrm>
            <a:off x="4031363" y="381000"/>
            <a:ext cx="7817739" cy="29626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854106-7B1E-B5B9-1868-1B4B4DADBA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2" t="16888" r="6655" b="18501"/>
          <a:stretch>
            <a:fillRect/>
          </a:stretch>
        </p:blipFill>
        <p:spPr>
          <a:xfrm>
            <a:off x="4031360" y="3514352"/>
            <a:ext cx="7817736" cy="296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0999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51A46-97DD-E4B3-92A0-17B7B6FD4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1: Full State Progression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618DCF-3FB1-5870-CAD1-22CB5A741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60500"/>
            <a:ext cx="10117445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027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</TotalTime>
  <Words>888</Words>
  <Application>Microsoft Office PowerPoint</Application>
  <PresentationFormat>Widescreen</PresentationFormat>
  <Paragraphs>176</Paragraphs>
  <Slides>27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Adobe Arabic</vt:lpstr>
      <vt:lpstr>Aptos</vt:lpstr>
      <vt:lpstr>Aptos Display</vt:lpstr>
      <vt:lpstr>Arial</vt:lpstr>
      <vt:lpstr>Cambria Math</vt:lpstr>
      <vt:lpstr>Office Theme</vt:lpstr>
      <vt:lpstr>F-16 Optimal Attitude Control</vt:lpstr>
      <vt:lpstr>Overview</vt:lpstr>
      <vt:lpstr>Introduction</vt:lpstr>
      <vt:lpstr>Introduction</vt:lpstr>
      <vt:lpstr>Background</vt:lpstr>
      <vt:lpstr>Aircraft Attitude</vt:lpstr>
      <vt:lpstr>Challenges with Attitude Change</vt:lpstr>
      <vt:lpstr>Problem Formulation</vt:lpstr>
      <vt:lpstr>Problem Formulation</vt:lpstr>
      <vt:lpstr>Technical Approach</vt:lpstr>
      <vt:lpstr>F16 Lateral Model</vt:lpstr>
      <vt:lpstr>Optimal Approach</vt:lpstr>
      <vt:lpstr>Cost Function </vt:lpstr>
      <vt:lpstr>Desired State Trajectory for Tracking</vt:lpstr>
      <vt:lpstr>Solving LQT</vt:lpstr>
      <vt:lpstr>Design Goals for Weight Tuning</vt:lpstr>
      <vt:lpstr>Weightings Case 1</vt:lpstr>
      <vt:lpstr>Weightings Case 2</vt:lpstr>
      <vt:lpstr>Weightings Case 3</vt:lpstr>
      <vt:lpstr>Weightings Case 4</vt:lpstr>
      <vt:lpstr>Simulation Results</vt:lpstr>
      <vt:lpstr>Final Attitude Comparison Summary</vt:lpstr>
      <vt:lpstr>PowerPoint Presentation</vt:lpstr>
      <vt:lpstr>PowerPoint Presentation</vt:lpstr>
      <vt:lpstr>Future Work</vt:lpstr>
      <vt:lpstr>Questions?</vt:lpstr>
      <vt:lpstr>Appendix 1: Full State Progression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Brandon Lim</dc:creator>
  <cp:lastModifiedBy>Brandon Lim</cp:lastModifiedBy>
  <cp:revision>9</cp:revision>
  <dcterms:created xsi:type="dcterms:W3CDTF">2026-04-20T22:07:45Z</dcterms:created>
  <dcterms:modified xsi:type="dcterms:W3CDTF">2026-04-23T20:11:08Z</dcterms:modified>
</cp:coreProperties>
</file>